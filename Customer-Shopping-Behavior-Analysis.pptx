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svg" ContentType="image/svg"/>
  <Override PartName="/ppt/media/image11.png" ContentType="image/png"/>
  <Override PartName="/ppt/media/image12.svg" ContentType="image/svg"/>
  <Override PartName="/ppt/media/image20.png" ContentType="image/png"/>
  <Override PartName="/ppt/media/image13.png" ContentType="image/png"/>
  <Override PartName="/ppt/media/image14.svg" ContentType="image/svg"/>
  <Override PartName="/ppt/media/image22.png" ContentType="image/png"/>
  <Override PartName="/ppt/media/image15.png" ContentType="image/png"/>
  <Override PartName="/ppt/media/image16.png" ContentType="image/png"/>
  <Override PartName="/ppt/media/image17.svg" ContentType="image/svg"/>
  <Override PartName="/ppt/media/image25.png" ContentType="image/png"/>
  <Override PartName="/ppt/media/image18.png" ContentType="image/png"/>
  <Override PartName="/ppt/media/image19.svg" ContentType="image/svg"/>
  <Override PartName="/ppt/media/image27.png" ContentType="image/png"/>
  <Override PartName="/ppt/media/image21.svg" ContentType="image/svg"/>
  <Override PartName="/ppt/media/image23.png" ContentType="image/png"/>
  <Override PartName="/ppt/media/image24.png" ContentType="image/png"/>
  <Override PartName="/ppt/media/image26.png" ContentType="image/png"/>
  <Override PartName="/ppt/media/image28.png" ContentType="image/png"/>
  <Override PartName="/ppt/media/image2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5F9F92-E7D3-415B-AC54-97167AE5D496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ACB528-5E9E-4A2F-81FB-D33525BFE01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EF8604-CDFC-4CFD-8462-76DC4FA301B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872245-F8DE-4824-B911-CE321BF8016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60F42A-FE0B-47ED-9B50-2CC647832AC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AB8713-BE09-4E21-8125-CD3C87AB1BD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43CAA0-4B8E-44BA-9B3B-7707FF738CD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DC8901-907B-49B1-8B14-41DDA9F915C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6BF994-8BBA-44E7-A449-851E65690D0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506CEC-5639-45F4-A508-7926E76FED7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77F756-29D3-4030-9C0F-38990E7D4B0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GB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0"/>
          <p:cNvSpPr/>
          <p:nvPr/>
        </p:nvSpPr>
        <p:spPr>
          <a:xfrm>
            <a:off x="863640" y="2487960"/>
            <a:ext cx="7416000" cy="14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Customer Shopping Behavior Analysis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863640" y="4260600"/>
            <a:ext cx="741600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This project analyzes transactional data from 3,900 purchases to uncover insights into spending patterns, customer segments, product preferences, and subscription behavior. Our goal is to guide strategic business decisions.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3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0"/>
          <p:cNvSpPr/>
          <p:nvPr/>
        </p:nvSpPr>
        <p:spPr>
          <a:xfrm>
            <a:off x="6204240" y="564120"/>
            <a:ext cx="7707600" cy="11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550"/>
              </a:lnSpc>
              <a:tabLst>
                <a:tab algn="l" pos="0"/>
              </a:tabLst>
            </a:pPr>
            <a:r>
              <a:rPr b="1" lang="en-US" sz="36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Project Overview &amp; Dataset Summary</a:t>
            </a:r>
            <a:endParaRPr b="0" lang="en-GB" sz="3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6204240" y="2037240"/>
            <a:ext cx="7707600" cy="1485000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 w="2286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6181560" y="2037240"/>
            <a:ext cx="91080" cy="1485000"/>
          </a:xfrm>
          <a:prstGeom prst="roundRect">
            <a:avLst>
              <a:gd name="adj" fmla="val 33652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6500880" y="2265120"/>
            <a:ext cx="23306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Project Goal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6500880" y="2679480"/>
            <a:ext cx="718344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Uncover insights from customer transactional data to inform strategic business decisions.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6204240" y="3727800"/>
            <a:ext cx="7707600" cy="1177560"/>
          </a:xfrm>
          <a:prstGeom prst="roundRect">
            <a:avLst>
              <a:gd name="adj" fmla="val 9317"/>
            </a:avLst>
          </a:prstGeom>
          <a:solidFill>
            <a:srgbClr val="ffffff"/>
          </a:solidFill>
          <a:ln w="2286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6181560" y="3727800"/>
            <a:ext cx="91080" cy="1177560"/>
          </a:xfrm>
          <a:prstGeom prst="roundRect">
            <a:avLst>
              <a:gd name="adj" fmla="val 33652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6500880" y="3955680"/>
            <a:ext cx="23306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Dataset Size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500880" y="4370040"/>
            <a:ext cx="718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3,900 rows, 18 columns, covering various product categories.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6204240" y="5110560"/>
            <a:ext cx="7707600" cy="1177560"/>
          </a:xfrm>
          <a:prstGeom prst="roundRect">
            <a:avLst>
              <a:gd name="adj" fmla="val 9317"/>
            </a:avLst>
          </a:prstGeom>
          <a:solidFill>
            <a:srgbClr val="ffffff"/>
          </a:solidFill>
          <a:ln w="2286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6181560" y="5110560"/>
            <a:ext cx="91080" cy="1177560"/>
          </a:xfrm>
          <a:prstGeom prst="roundRect">
            <a:avLst>
              <a:gd name="adj" fmla="val 33652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6500880" y="5338440"/>
            <a:ext cx="23306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Key Features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6500880" y="5752800"/>
            <a:ext cx="718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Customer demographics, purchase details, and shopping behavior metrics.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6204240" y="6493320"/>
            <a:ext cx="7707600" cy="1177560"/>
          </a:xfrm>
          <a:prstGeom prst="roundRect">
            <a:avLst>
              <a:gd name="adj" fmla="val 9317"/>
            </a:avLst>
          </a:prstGeom>
          <a:solidFill>
            <a:srgbClr val="ffffff"/>
          </a:solidFill>
          <a:ln w="2286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181560" y="6493320"/>
            <a:ext cx="91080" cy="1177560"/>
          </a:xfrm>
          <a:prstGeom prst="roundRect">
            <a:avLst>
              <a:gd name="adj" fmla="val 33652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6500880" y="6721200"/>
            <a:ext cx="23306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Missing Data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6500880" y="7135560"/>
            <a:ext cx="718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37 values in the 'Review Rating' column were identified and handled.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12780000" y="7799400"/>
            <a:ext cx="177804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777960" y="611280"/>
            <a:ext cx="1016856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949"/>
              </a:lnSpc>
              <a:tabLst>
                <a:tab algn="l" pos="0"/>
              </a:tabLst>
            </a:pPr>
            <a:r>
              <a:rPr b="1" lang="en-US" sz="39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Exploratory Data Analysis with Python</a:t>
            </a:r>
            <a:endParaRPr b="0" lang="en-GB" sz="3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777960" y="1798920"/>
            <a:ext cx="375300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Data Preparation &amp; Cleaning</a:t>
            </a:r>
            <a:endParaRPr b="0" lang="en-GB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777960" y="2336760"/>
            <a:ext cx="626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Data Loading: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Imported dataset using pandas.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777960" y="2747880"/>
            <a:ext cx="626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Initial Exploration: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Checked structure and summary statistics.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777960" y="3159000"/>
            <a:ext cx="62654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Missing Data Handling: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Imputed 'Review Rating' using median per category.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777960" y="3903480"/>
            <a:ext cx="626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Column Standardization: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Renamed columns to snake_case.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777960" y="4314600"/>
            <a:ext cx="62654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Feature Engineering: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Created 'age_group' and 'purchase_frequency_days'.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777960" y="5059080"/>
            <a:ext cx="62654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Data Consistency: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Dropped redundant 'promo_code_used' column.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777960" y="5803560"/>
            <a:ext cx="62654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Database Integration:</a:t>
            </a: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Loaded cleaned data into PostgreSQL for SQL analysis.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7560000" y="1244160"/>
            <a:ext cx="6985440" cy="69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604440" y="474840"/>
            <a:ext cx="4029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849"/>
              </a:lnSpc>
              <a:tabLst>
                <a:tab algn="l" pos="0"/>
              </a:tabLst>
            </a:pPr>
            <a:r>
              <a:rPr b="1" lang="en-US" sz="30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Revenue by Gender</a:t>
            </a:r>
            <a:endParaRPr b="0" lang="en-GB" sz="3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604440" y="1310760"/>
            <a:ext cx="134211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Comparing total revenue generated by male versus female customers reveals a significant difference.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604440" y="1763640"/>
            <a:ext cx="11815560" cy="63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12780360" y="7799400"/>
            <a:ext cx="177804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65920" y="444600"/>
            <a:ext cx="89391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High-Spending Discount Users &amp; Top Products</a:t>
            </a:r>
            <a:endParaRPr b="0" lang="en-GB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65920" y="1307880"/>
            <a:ext cx="295776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High-Spending Discount Users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565920" y="1698840"/>
            <a:ext cx="655200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839 customers used discounts but still spent above the average purchase amount, indicating effective discount strategies for higher value transactions.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565920" y="2365920"/>
            <a:ext cx="6552000" cy="57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3"/>
          <p:cNvSpPr/>
          <p:nvPr/>
        </p:nvSpPr>
        <p:spPr>
          <a:xfrm>
            <a:off x="7520040" y="1307880"/>
            <a:ext cx="24116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Top 5 Products by Rating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10784520" y="1719000"/>
            <a:ext cx="22680" cy="4826520"/>
          </a:xfrm>
          <a:prstGeom prst="roundRect">
            <a:avLst>
              <a:gd name="adj" fmla="val 106088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10495800" y="1889640"/>
            <a:ext cx="322920" cy="22680"/>
          </a:xfrm>
          <a:prstGeom prst="roundRect">
            <a:avLst>
              <a:gd name="adj" fmla="val 106088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10735560" y="1840320"/>
            <a:ext cx="120960" cy="120960"/>
          </a:xfrm>
          <a:prstGeom prst="roundRect">
            <a:avLst>
              <a:gd name="adj" fmla="val 3772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8312400" y="1774800"/>
            <a:ext cx="18367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Gloves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7520040" y="2165760"/>
            <a:ext cx="2629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Avg Rating: 3.86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10773360" y="2859480"/>
            <a:ext cx="322920" cy="22680"/>
          </a:xfrm>
          <a:prstGeom prst="roundRect">
            <a:avLst>
              <a:gd name="adj" fmla="val 106088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10735560" y="2810160"/>
            <a:ext cx="120960" cy="120960"/>
          </a:xfrm>
          <a:prstGeom prst="roundRect">
            <a:avLst>
              <a:gd name="adj" fmla="val 3772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11442600" y="2744640"/>
            <a:ext cx="18367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Sandals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11442600" y="3135600"/>
            <a:ext cx="2629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Avg Rating: 3.84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10495800" y="3695400"/>
            <a:ext cx="322920" cy="22680"/>
          </a:xfrm>
          <a:prstGeom prst="roundRect">
            <a:avLst>
              <a:gd name="adj" fmla="val 106088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10735560" y="3646440"/>
            <a:ext cx="120960" cy="120960"/>
          </a:xfrm>
          <a:prstGeom prst="roundRect">
            <a:avLst>
              <a:gd name="adj" fmla="val 3772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8312400" y="3580560"/>
            <a:ext cx="18367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Boots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7520040" y="3971520"/>
            <a:ext cx="2629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Avg Rating: 3.82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10773360" y="4531680"/>
            <a:ext cx="322920" cy="22680"/>
          </a:xfrm>
          <a:prstGeom prst="roundRect">
            <a:avLst>
              <a:gd name="adj" fmla="val 106088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10735560" y="4482360"/>
            <a:ext cx="120960" cy="120960"/>
          </a:xfrm>
          <a:prstGeom prst="roundRect">
            <a:avLst>
              <a:gd name="adj" fmla="val 3772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11442600" y="4416480"/>
            <a:ext cx="18367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Hat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11442600" y="4807800"/>
            <a:ext cx="2629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Avg Rating: 3.80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1"/>
          <p:cNvSpPr/>
          <p:nvPr/>
        </p:nvSpPr>
        <p:spPr>
          <a:xfrm>
            <a:off x="10495800" y="5367600"/>
            <a:ext cx="322920" cy="22680"/>
          </a:xfrm>
          <a:prstGeom prst="roundRect">
            <a:avLst>
              <a:gd name="adj" fmla="val 106088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10735560" y="5318280"/>
            <a:ext cx="120960" cy="120960"/>
          </a:xfrm>
          <a:prstGeom prst="roundRect">
            <a:avLst>
              <a:gd name="adj" fmla="val 3772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3"/>
          <p:cNvSpPr/>
          <p:nvPr/>
        </p:nvSpPr>
        <p:spPr>
          <a:xfrm>
            <a:off x="8312400" y="5252760"/>
            <a:ext cx="18367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Skirt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7520040" y="5643720"/>
            <a:ext cx="2629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Avg Rating: 3.78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12780360" y="7799400"/>
            <a:ext cx="177804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78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0"/>
          <p:cNvSpPr/>
          <p:nvPr/>
        </p:nvSpPr>
        <p:spPr>
          <a:xfrm>
            <a:off x="780840" y="3402000"/>
            <a:ext cx="868104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949"/>
              </a:lnSpc>
              <a:tabLst>
                <a:tab algn="l" pos="0"/>
              </a:tabLst>
            </a:pPr>
            <a:r>
              <a:rPr b="1" lang="en-US" sz="39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Shipping &amp; Subscription Insights</a:t>
            </a:r>
            <a:endParaRPr b="0" lang="en-GB" sz="3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780840" y="4704480"/>
            <a:ext cx="4207320" cy="2917080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780840" y="4674240"/>
            <a:ext cx="4207320" cy="121680"/>
          </a:xfrm>
          <a:prstGeom prst="roundRect">
            <a:avLst>
              <a:gd name="adj" fmla="val 27446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549880" y="4370040"/>
            <a:ext cx="668880" cy="668880"/>
          </a:xfrm>
          <a:prstGeom prst="roundRect">
            <a:avLst>
              <a:gd name="adj" fmla="val 136655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750760" y="45709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4"/>
          <p:cNvSpPr/>
          <p:nvPr/>
        </p:nvSpPr>
        <p:spPr>
          <a:xfrm>
            <a:off x="1034280" y="5262480"/>
            <a:ext cx="357732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Shipping Type Comparison</a:t>
            </a:r>
            <a:endParaRPr b="0" lang="en-GB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1034280" y="5712840"/>
            <a:ext cx="3700440" cy="13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Express shipping users have a slightly higher average purchase amount ($60.48) compared to Standard shipping ($58.46).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5211360" y="4704480"/>
            <a:ext cx="4207320" cy="2917080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7"/>
          <p:cNvSpPr/>
          <p:nvPr/>
        </p:nvSpPr>
        <p:spPr>
          <a:xfrm>
            <a:off x="5211360" y="4674240"/>
            <a:ext cx="4207320" cy="121680"/>
          </a:xfrm>
          <a:prstGeom prst="roundRect">
            <a:avLst>
              <a:gd name="adj" fmla="val 27446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6980760" y="4370040"/>
            <a:ext cx="668880" cy="668880"/>
          </a:xfrm>
          <a:prstGeom prst="roundRect">
            <a:avLst>
              <a:gd name="adj" fmla="val 136655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181280" y="45709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9"/>
          <p:cNvSpPr/>
          <p:nvPr/>
        </p:nvSpPr>
        <p:spPr>
          <a:xfrm>
            <a:off x="5464800" y="5262480"/>
            <a:ext cx="370044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Subscribers vs. Non-Subscribers</a:t>
            </a:r>
            <a:endParaRPr b="0" lang="en-GB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5464800" y="6029640"/>
            <a:ext cx="3700440" cy="13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Non-subscribers contribute more to total revenue ($170,436) than subscribers ($62,645), with similar average spend.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9641880" y="4704480"/>
            <a:ext cx="4207320" cy="2917080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9641880" y="4674240"/>
            <a:ext cx="4207320" cy="121680"/>
          </a:xfrm>
          <a:prstGeom prst="roundRect">
            <a:avLst>
              <a:gd name="adj" fmla="val 27446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11411280" y="4370040"/>
            <a:ext cx="668880" cy="668880"/>
          </a:xfrm>
          <a:prstGeom prst="roundRect">
            <a:avLst>
              <a:gd name="adj" fmla="val 136655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612160" y="45709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14"/>
          <p:cNvSpPr/>
          <p:nvPr/>
        </p:nvSpPr>
        <p:spPr>
          <a:xfrm>
            <a:off x="9895680" y="5262480"/>
            <a:ext cx="370044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Discount-Dependent Products</a:t>
            </a:r>
            <a:endParaRPr b="0" lang="en-GB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9895680" y="6029640"/>
            <a:ext cx="3700440" cy="13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Hat, Sneakers, Coat, Sweater, and Pants show the highest percentage of discounted purchases, indicating price sensitivity.</a:t>
            </a:r>
            <a:endParaRPr b="0" lang="en-GB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8"/>
          <a:stretch/>
        </p:blipFill>
        <p:spPr>
          <a:xfrm>
            <a:off x="12780360" y="7799400"/>
            <a:ext cx="177804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0"/>
          <p:cNvSpPr/>
          <p:nvPr/>
        </p:nvSpPr>
        <p:spPr>
          <a:xfrm>
            <a:off x="6333840" y="665640"/>
            <a:ext cx="7074720" cy="6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4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Customer Segmentation</a:t>
            </a:r>
            <a:endParaRPr b="0" lang="en-GB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6333840" y="1716840"/>
            <a:ext cx="744876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Customers are classified into three segments based on their purchase history.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6333840" y="2715480"/>
            <a:ext cx="3603240" cy="2304360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6575760" y="2957760"/>
            <a:ext cx="725760" cy="725760"/>
          </a:xfrm>
          <a:prstGeom prst="roundRect">
            <a:avLst>
              <a:gd name="adj" fmla="val 125889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775560" y="315720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4"/>
          <p:cNvSpPr/>
          <p:nvPr/>
        </p:nvSpPr>
        <p:spPr>
          <a:xfrm>
            <a:off x="6575760" y="3925800"/>
            <a:ext cx="27507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Loyal</a:t>
            </a:r>
            <a:endParaRPr b="0" lang="en-GB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6575760" y="4415040"/>
            <a:ext cx="31190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3,116 Customers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10179360" y="2715480"/>
            <a:ext cx="3603240" cy="2304360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10421280" y="2957760"/>
            <a:ext cx="725760" cy="725760"/>
          </a:xfrm>
          <a:prstGeom prst="roundRect">
            <a:avLst>
              <a:gd name="adj" fmla="val 125889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621080" y="315720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8"/>
          <p:cNvSpPr/>
          <p:nvPr/>
        </p:nvSpPr>
        <p:spPr>
          <a:xfrm>
            <a:off x="10421280" y="3925800"/>
            <a:ext cx="27507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New</a:t>
            </a:r>
            <a:endParaRPr b="0" lang="en-GB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10421280" y="4415040"/>
            <a:ext cx="31190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83 Customers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6333840" y="5262480"/>
            <a:ext cx="7448760" cy="2304360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6575760" y="5504400"/>
            <a:ext cx="725760" cy="725760"/>
          </a:xfrm>
          <a:prstGeom prst="roundRect">
            <a:avLst>
              <a:gd name="adj" fmla="val 12588909"/>
            </a:avLst>
          </a:prstGeom>
          <a:solidFill>
            <a:srgbClr val="2d2e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775560" y="570420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2"/>
          <p:cNvSpPr/>
          <p:nvPr/>
        </p:nvSpPr>
        <p:spPr>
          <a:xfrm>
            <a:off x="6575760" y="6472800"/>
            <a:ext cx="27507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Returning</a:t>
            </a:r>
            <a:endParaRPr b="0" lang="en-GB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6575760" y="6962040"/>
            <a:ext cx="69649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701 Customers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8"/>
          <a:stretch/>
        </p:blipFill>
        <p:spPr>
          <a:xfrm>
            <a:off x="12780360" y="7799400"/>
            <a:ext cx="177804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819000" y="645120"/>
            <a:ext cx="745740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199"/>
              </a:lnSpc>
              <a:tabLst>
                <a:tab algn="l" pos="0"/>
              </a:tabLst>
            </a:pPr>
            <a:r>
              <a:rPr b="1" lang="en-US" sz="41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Top Products per Category</a:t>
            </a:r>
            <a:endParaRPr b="0" lang="en-GB" sz="4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819000" y="1778040"/>
            <a:ext cx="129916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Identifying the most purchased items within each category helps optimize inventory and marketing efforts.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819000" y="2392560"/>
            <a:ext cx="12991680" cy="5191560"/>
          </a:xfrm>
          <a:prstGeom prst="roundRect">
            <a:avLst>
              <a:gd name="adj" fmla="val 676"/>
            </a:avLst>
          </a:prstGeom>
          <a:noFill/>
          <a:ln w="7620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826920" y="2400120"/>
            <a:ext cx="12976560" cy="6469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1060920" y="254808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2362320" y="25480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Accessories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6255360" y="25480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Jewelry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10148400" y="254808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171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826920" y="3047040"/>
            <a:ext cx="12976560" cy="6469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1060920" y="319500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2362320" y="319500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Clothing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6255360" y="319500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Blouse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10148400" y="319500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171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826920" y="3694320"/>
            <a:ext cx="12976560" cy="6469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1060920" y="384228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2362320" y="38422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Footwear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6255360" y="38422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Sandals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10148400" y="384228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160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826920" y="4341240"/>
            <a:ext cx="12976560" cy="6469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1060920" y="448920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2362320" y="448920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Outerwear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6255360" y="448920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Jacket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2"/>
          <p:cNvSpPr/>
          <p:nvPr/>
        </p:nvSpPr>
        <p:spPr>
          <a:xfrm>
            <a:off x="10148400" y="448920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163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/>
          <p:cNvSpPr/>
          <p:nvPr/>
        </p:nvSpPr>
        <p:spPr>
          <a:xfrm>
            <a:off x="826920" y="4988520"/>
            <a:ext cx="12976560" cy="6469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4"/>
          <p:cNvSpPr/>
          <p:nvPr/>
        </p:nvSpPr>
        <p:spPr>
          <a:xfrm>
            <a:off x="1060920" y="513648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5"/>
          <p:cNvSpPr/>
          <p:nvPr/>
        </p:nvSpPr>
        <p:spPr>
          <a:xfrm>
            <a:off x="2362320" y="51364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Accessories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6"/>
          <p:cNvSpPr/>
          <p:nvPr/>
        </p:nvSpPr>
        <p:spPr>
          <a:xfrm>
            <a:off x="6255360" y="51364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Sunglasses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7"/>
          <p:cNvSpPr/>
          <p:nvPr/>
        </p:nvSpPr>
        <p:spPr>
          <a:xfrm>
            <a:off x="10148400" y="513648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161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8"/>
          <p:cNvSpPr/>
          <p:nvPr/>
        </p:nvSpPr>
        <p:spPr>
          <a:xfrm>
            <a:off x="826920" y="5635440"/>
            <a:ext cx="12976560" cy="6469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9"/>
          <p:cNvSpPr/>
          <p:nvPr/>
        </p:nvSpPr>
        <p:spPr>
          <a:xfrm>
            <a:off x="1060920" y="578376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0"/>
          <p:cNvSpPr/>
          <p:nvPr/>
        </p:nvSpPr>
        <p:spPr>
          <a:xfrm>
            <a:off x="2362320" y="578376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Clothing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1"/>
          <p:cNvSpPr/>
          <p:nvPr/>
        </p:nvSpPr>
        <p:spPr>
          <a:xfrm>
            <a:off x="6255360" y="578376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Pants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2"/>
          <p:cNvSpPr/>
          <p:nvPr/>
        </p:nvSpPr>
        <p:spPr>
          <a:xfrm>
            <a:off x="10148400" y="578376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171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/>
          <p:cNvSpPr/>
          <p:nvPr/>
        </p:nvSpPr>
        <p:spPr>
          <a:xfrm>
            <a:off x="826920" y="6282720"/>
            <a:ext cx="12976560" cy="6469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4"/>
          <p:cNvSpPr/>
          <p:nvPr/>
        </p:nvSpPr>
        <p:spPr>
          <a:xfrm>
            <a:off x="1060920" y="643068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5"/>
          <p:cNvSpPr/>
          <p:nvPr/>
        </p:nvSpPr>
        <p:spPr>
          <a:xfrm>
            <a:off x="2362320" y="64306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Footwear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6"/>
          <p:cNvSpPr/>
          <p:nvPr/>
        </p:nvSpPr>
        <p:spPr>
          <a:xfrm>
            <a:off x="6255360" y="643068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Shoes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7"/>
          <p:cNvSpPr/>
          <p:nvPr/>
        </p:nvSpPr>
        <p:spPr>
          <a:xfrm>
            <a:off x="10148400" y="643068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150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8"/>
          <p:cNvSpPr/>
          <p:nvPr/>
        </p:nvSpPr>
        <p:spPr>
          <a:xfrm>
            <a:off x="826920" y="6929640"/>
            <a:ext cx="12976560" cy="6469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9"/>
          <p:cNvSpPr/>
          <p:nvPr/>
        </p:nvSpPr>
        <p:spPr>
          <a:xfrm>
            <a:off x="1060920" y="7077960"/>
            <a:ext cx="8254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0"/>
          <p:cNvSpPr/>
          <p:nvPr/>
        </p:nvSpPr>
        <p:spPr>
          <a:xfrm>
            <a:off x="2362320" y="707796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Outerwear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1"/>
          <p:cNvSpPr/>
          <p:nvPr/>
        </p:nvSpPr>
        <p:spPr>
          <a:xfrm>
            <a:off x="6255360" y="7077960"/>
            <a:ext cx="3417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Coat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2"/>
          <p:cNvSpPr/>
          <p:nvPr/>
        </p:nvSpPr>
        <p:spPr>
          <a:xfrm>
            <a:off x="10148400" y="7077960"/>
            <a:ext cx="3421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161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12780360" y="7799400"/>
            <a:ext cx="177804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564120" y="443160"/>
            <a:ext cx="76687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Repeat Buyers &amp; Revenue by Age Group</a:t>
            </a:r>
            <a:endParaRPr b="0" lang="en-GB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64120" y="1303560"/>
            <a:ext cx="2945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Repeat Buyers &amp; Subscriptions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564120" y="1693800"/>
            <a:ext cx="655416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Customers with more than 5 purchases are more likely to be non-subscribers (2,518) than subscribers (958). This suggests an opportunity to convert loyal non-subscribers.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preencoded.png"/>
          <p:cNvPicPr/>
          <p:nvPr/>
        </p:nvPicPr>
        <p:blipFill>
          <a:blip r:embed="rId1"/>
          <a:stretch/>
        </p:blipFill>
        <p:spPr>
          <a:xfrm>
            <a:off x="564120" y="2358000"/>
            <a:ext cx="6554160" cy="58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3"/>
          <p:cNvSpPr/>
          <p:nvPr/>
        </p:nvSpPr>
        <p:spPr>
          <a:xfrm>
            <a:off x="7519320" y="1303560"/>
            <a:ext cx="2198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Revenue by Age Group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1" descr="preencoded.png"/>
          <p:cNvPicPr/>
          <p:nvPr/>
        </p:nvPicPr>
        <p:blipFill>
          <a:blip r:embed="rId2"/>
          <a:stretch/>
        </p:blipFill>
        <p:spPr>
          <a:xfrm>
            <a:off x="7519320" y="1713960"/>
            <a:ext cx="6554160" cy="347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Shape 4"/>
          <p:cNvSpPr/>
          <p:nvPr/>
        </p:nvSpPr>
        <p:spPr>
          <a:xfrm>
            <a:off x="8015760" y="5223240"/>
            <a:ext cx="160560" cy="160560"/>
          </a:xfrm>
          <a:prstGeom prst="roundRect">
            <a:avLst>
              <a:gd name="adj" fmla="val 11353"/>
            </a:avLst>
          </a:prstGeom>
          <a:solidFill>
            <a:srgbClr val="232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8237520" y="5223240"/>
            <a:ext cx="8056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Young Adult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9428760" y="5223240"/>
            <a:ext cx="160560" cy="160560"/>
          </a:xfrm>
          <a:prstGeom prst="roundRect">
            <a:avLst>
              <a:gd name="adj" fmla="val 11353"/>
            </a:avLst>
          </a:prstGeom>
          <a:solidFill>
            <a:srgbClr val="4d4f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9650880" y="5223240"/>
            <a:ext cx="8366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Middle-aged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11344320" y="5223240"/>
            <a:ext cx="160560" cy="160560"/>
          </a:xfrm>
          <a:prstGeom prst="roundRect">
            <a:avLst>
              <a:gd name="adj" fmla="val 11353"/>
            </a:avLst>
          </a:prstGeom>
          <a:solidFill>
            <a:srgbClr val="78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11566080" y="5223240"/>
            <a:ext cx="3592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Adult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12549600" y="5223240"/>
            <a:ext cx="160560" cy="160560"/>
          </a:xfrm>
          <a:prstGeom prst="roundRect">
            <a:avLst>
              <a:gd name="adj" fmla="val 11353"/>
            </a:avLst>
          </a:prstGeom>
          <a:solidFill>
            <a:srgbClr val="a8a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12771720" y="5223240"/>
            <a:ext cx="4363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Senior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3"/>
          <a:stretch/>
        </p:blipFill>
        <p:spPr>
          <a:xfrm>
            <a:off x="12780360" y="7560000"/>
            <a:ext cx="1778040" cy="59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432000" y="339480"/>
            <a:ext cx="418032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Montserrat Bold"/>
                <a:ea typeface="Montserrat Bold"/>
              </a:rPr>
              <a:t>Business Recommendations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432000" y="936720"/>
            <a:ext cx="616680" cy="7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"/>
          <p:cNvSpPr/>
          <p:nvPr/>
        </p:nvSpPr>
        <p:spPr>
          <a:xfrm>
            <a:off x="1172160" y="1060200"/>
            <a:ext cx="14702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Boost Subscriptions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1172160" y="1309320"/>
            <a:ext cx="1302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Promote exclusive benefits to increase subscriber base.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1" descr="preencoded.png"/>
          <p:cNvPicPr/>
          <p:nvPr/>
        </p:nvPicPr>
        <p:blipFill>
          <a:blip r:embed="rId2"/>
          <a:stretch/>
        </p:blipFill>
        <p:spPr>
          <a:xfrm>
            <a:off x="432000" y="1677240"/>
            <a:ext cx="616680" cy="7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3"/>
          <p:cNvSpPr/>
          <p:nvPr/>
        </p:nvSpPr>
        <p:spPr>
          <a:xfrm>
            <a:off x="1172160" y="1800720"/>
            <a:ext cx="2033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Customer Loyalty Programs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1172160" y="2049840"/>
            <a:ext cx="1302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Reward repeat buyers to foster loyalty and move them into the "Loyal" 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segment.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2" descr="preencoded.png"/>
          <p:cNvPicPr/>
          <p:nvPr/>
        </p:nvPicPr>
        <p:blipFill>
          <a:blip r:embed="rId3"/>
          <a:stretch/>
        </p:blipFill>
        <p:spPr>
          <a:xfrm>
            <a:off x="432000" y="2417760"/>
            <a:ext cx="616680" cy="7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5"/>
          <p:cNvSpPr/>
          <p:nvPr/>
        </p:nvSpPr>
        <p:spPr>
          <a:xfrm>
            <a:off x="1172160" y="2540880"/>
            <a:ext cx="17172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Review Discount Policy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1172160" y="2790360"/>
            <a:ext cx="1302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Balance sales boosts with margin control for sustainable growth.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3" descr="preencoded.png"/>
          <p:cNvPicPr/>
          <p:nvPr/>
        </p:nvPicPr>
        <p:blipFill>
          <a:blip r:embed="rId4"/>
          <a:stretch/>
        </p:blipFill>
        <p:spPr>
          <a:xfrm>
            <a:off x="432000" y="3158280"/>
            <a:ext cx="616680" cy="7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7"/>
          <p:cNvSpPr/>
          <p:nvPr/>
        </p:nvSpPr>
        <p:spPr>
          <a:xfrm>
            <a:off x="1172160" y="3281400"/>
            <a:ext cx="14684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Product Positioning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1172160" y="3530520"/>
            <a:ext cx="1302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Highlight top-rated and best-selling products in marketing campaigns.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4" descr="preencoded.png"/>
          <p:cNvPicPr/>
          <p:nvPr/>
        </p:nvPicPr>
        <p:blipFill>
          <a:blip r:embed="rId5"/>
          <a:stretch/>
        </p:blipFill>
        <p:spPr>
          <a:xfrm>
            <a:off x="432000" y="3898440"/>
            <a:ext cx="616680" cy="7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9"/>
          <p:cNvSpPr/>
          <p:nvPr/>
        </p:nvSpPr>
        <p:spPr>
          <a:xfrm>
            <a:off x="1172160" y="4021920"/>
            <a:ext cx="14540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d3838"/>
                </a:solidFill>
                <a:effectLst/>
                <a:uFillTx/>
                <a:latin typeface="Montserrat Bold"/>
                <a:ea typeface="Montserrat Bold"/>
              </a:rPr>
              <a:t>Targeted Marketing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172160" y="4271040"/>
            <a:ext cx="1302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Focus efforts on high-revenue age groups and express-shipping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d3838"/>
                </a:solidFill>
                <a:effectLst/>
                <a:uFillTx/>
                <a:latin typeface="Source Sans 3"/>
                <a:ea typeface="Source Sans 3"/>
              </a:rPr>
              <a:t> users for maximum impact.</a:t>
            </a:r>
            <a:endParaRPr b="0" lang="en-GB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5" descr="preencoded.png"/>
          <p:cNvPicPr/>
          <p:nvPr/>
        </p:nvPicPr>
        <p:blipFill>
          <a:blip r:embed="rId6"/>
          <a:stretch/>
        </p:blipFill>
        <p:spPr>
          <a:xfrm>
            <a:off x="5040000" y="1800000"/>
            <a:ext cx="9590400" cy="642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2025-12-28T17:48:45Z</dcterms:created>
  <dc:creator/>
  <dc:description/>
  <dc:language>en-GB</dc:language>
  <cp:lastModifiedBy/>
  <dcterms:modified xsi:type="dcterms:W3CDTF">2025-12-28T23:23:59Z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